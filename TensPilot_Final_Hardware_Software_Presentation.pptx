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_SLIDE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1440"/>
            <a:ext cx="9144000" cy="4572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475488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75569"/>
                </a:solidFill>
              </a:rPr>
              <a:t>TENSPILOT+ SMART TELEMETRY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400800" y="475488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CODET Engineering Project Presentation</a:t>
            </a:r>
            <a:endParaRPr lang="en-US" sz="1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914400"/>
            <a:ext cx="8229600" cy="2286000"/>
          </a:xfrm>
          <a:prstGeom prst="rect">
            <a:avLst>
              <a:gd name="adj" fmla="val 8000"/>
            </a:avLst>
          </a:prstGeom>
          <a:solidFill>
            <a:srgbClr val="1E293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0"/>
            <a:ext cx="8229600" cy="914400"/>
          </a:xfrm>
          <a:prstGeom prst="rect">
            <a:avLst/>
          </a:prstGeom>
          <a:noFill/>
          <a:ln/>
          <a:effectLst>
            <a:outerShdw sx="100000" sy="100000" kx="0" ky="0" algn="bl" rotWithShape="0" blurRad="63500" dist="38100" dir="2700000">
              <a:srgbClr val="000000">
                <a:alpha val="75000"/>
              </a:srgbClr>
            </a:outerShdw>
          </a:effectLst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500" b="1" dirty="0">
                <a:solidFill>
                  <a:srgbClr val="10B981"/>
                </a:solidFill>
              </a:rPr>
              <a:t>TensPilot+</a:t>
            </a:r>
            <a:endParaRPr lang="en-US" sz="55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8FAFC"/>
                </a:solidFill>
              </a:rPr>
              <a:t>Smart Telemetry-Enabled TENS System for Affordable Pain Management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94A3B8"/>
                </a:solidFill>
              </a:rPr>
              <a:t>Theme: Improving Access to Safe, Intelligent, and Remote Electrotherapy for Nigerians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914400" y="3474720"/>
            <a:ext cx="3200400" cy="1188720"/>
          </a:xfrm>
          <a:prstGeom prst="rect">
            <a:avLst/>
          </a:prstGeom>
          <a:solidFill>
            <a:srgbClr val="1E293B"/>
          </a:solidFill>
          <a:ln w="25400">
            <a:solidFill>
              <a:srgbClr val="64748B"/>
            </a:solidFill>
            <a:prstDash val="dash"/>
          </a:ln>
        </p:spPr>
      </p:sp>
      <p:sp>
        <p:nvSpPr>
          <p:cNvPr id="7" name="Text 5"/>
          <p:cNvSpPr/>
          <p:nvPr/>
        </p:nvSpPr>
        <p:spPr>
          <a:xfrm>
            <a:off x="914400" y="3474720"/>
            <a:ext cx="32004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</a:rPr>
              <a:t>[ Hardware Photo ]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029200" y="3474720"/>
            <a:ext cx="3200400" cy="1188720"/>
          </a:xfrm>
          <a:prstGeom prst="rect">
            <a:avLst/>
          </a:prstGeom>
          <a:solidFill>
            <a:srgbClr val="1E293B"/>
          </a:solidFill>
          <a:ln w="25400">
            <a:solidFill>
              <a:srgbClr val="64748B"/>
            </a:solidFill>
            <a:prstDash val="dash"/>
          </a:ln>
        </p:spPr>
      </p:sp>
      <p:sp>
        <p:nvSpPr>
          <p:cNvPr id="9" name="Text 7"/>
          <p:cNvSpPr/>
          <p:nvPr/>
        </p:nvSpPr>
        <p:spPr>
          <a:xfrm>
            <a:off x="5029200" y="3474720"/>
            <a:ext cx="32004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</a:rPr>
              <a:t>[ App Screenshot ]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0B981"/>
                </a:solidFill>
              </a:rPr>
              <a:t>The Problem: Pain Management Challenges in Nigeria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45720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8FAFC"/>
                </a:solidFill>
              </a:rPr>
              <a:t>Many patients suffer from:
</a:t>
            </a:r>
            <a:pPr indent="0" marL="0">
              <a:buNone/>
            </a:pPr>
            <a:r>
              <a:rPr lang="en-US" sz="1600" dirty="0">
                <a:solidFill>
                  <a:srgbClr val="CBD5E1"/>
                </a:solidFill>
              </a:rPr>
              <a:t>• Chronic pain &amp; Musculoskeletal disorders
• Cancer-related &amp; Post-operative pain
</a:t>
            </a:r>
            <a:pPr indent="0" marL="0">
              <a:buNone/>
            </a:pPr>
            <a:r>
              <a:rPr lang="en-US" sz="1800" b="1" dirty="0">
                <a:solidFill>
                  <a:srgbClr val="EF4444"/>
                </a:solidFill>
              </a:rPr>
              <a:t>Current Challenges:
</a:t>
            </a:r>
            <a:pPr indent="0" marL="0">
              <a:buNone/>
            </a:pPr>
            <a:r>
              <a:rPr lang="en-US" sz="1600" dirty="0">
                <a:solidFill>
                  <a:srgbClr val="CBD5E1"/>
                </a:solidFill>
              </a:rPr>
              <a:t>• Over-dependence on pain medication (drugs)</a:t>
            </a:r>
            <a:endParaRPr lang="en-US" sz="1800" dirty="0"/>
          </a:p>
          <a:p>
            <a:pPr indent="0" marL="0">
              <a:buNone/>
            </a:pPr>
            <a:r>
              <a:rPr lang="en-US" sz="1600" dirty="0">
                <a:solidFill>
                  <a:srgbClr val="CBD5E1"/>
                </a:solidFill>
              </a:rPr>
              <a:t>• Frequent, expensive hospital visits</a:t>
            </a:r>
            <a:endParaRPr lang="en-US" sz="1800" dirty="0"/>
          </a:p>
          <a:p>
            <a:pPr indent="0" marL="0">
              <a:buNone/>
            </a:pPr>
            <a:r>
              <a:rPr lang="en-US" sz="1600" dirty="0">
                <a:solidFill>
                  <a:srgbClr val="CBD5E1"/>
                </a:solidFill>
              </a:rPr>
              <a:t>• Poor monitoring of home therapy</a:t>
            </a:r>
            <a:endParaRPr lang="en-US" sz="1800" dirty="0"/>
          </a:p>
          <a:p>
            <a:pPr indent="0" marL="0">
              <a:buNone/>
            </a:pPr>
            <a:r>
              <a:rPr lang="en-US" sz="1600" dirty="0">
                <a:solidFill>
                  <a:srgbClr val="CBD5E1"/>
                </a:solidFill>
              </a:rPr>
              <a:t>• No feedback loop to clinicians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486400" y="1371600"/>
            <a:ext cx="3200400" cy="3200400"/>
          </a:xfrm>
          <a:prstGeom prst="rect">
            <a:avLst/>
          </a:prstGeom>
          <a:solidFill>
            <a:srgbClr val="1E293B"/>
          </a:solidFill>
          <a:ln w="25400">
            <a:solidFill>
              <a:srgbClr val="64748B"/>
            </a:solidFill>
            <a:prstDash val="dash"/>
          </a:ln>
        </p:spPr>
      </p:sp>
      <p:sp>
        <p:nvSpPr>
          <p:cNvPr id="5" name="Text 3"/>
          <p:cNvSpPr/>
          <p:nvPr/>
        </p:nvSpPr>
        <p:spPr>
          <a:xfrm>
            <a:off x="5486400" y="1371600"/>
            <a:ext cx="32004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</a:rPr>
              <a:t>[ Picture of patient with pain / Statistics on chronic pain ]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0B981"/>
                </a:solidFill>
              </a:rPr>
              <a:t>Motivation: Why We Built This Device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371600"/>
            <a:ext cx="3840480" cy="2926080"/>
          </a:xfrm>
          <a:prstGeom prst="rect">
            <a:avLst>
              <a:gd name="adj" fmla="val 3125"/>
            </a:avLst>
          </a:prstGeom>
          <a:solidFill>
            <a:srgbClr val="1E293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55448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F4444"/>
                </a:solidFill>
              </a:rPr>
              <a:t>Traditional TENS Machines: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40080" y="2103120"/>
            <a:ext cx="34747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BD5E1"/>
                </a:solidFill>
              </a:rPr>
              <a:t>❌ Work in isolation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CBD5E1"/>
                </a:solidFill>
              </a:rPr>
              <a:t>❌ No treatment records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CBD5E1"/>
                </a:solidFill>
              </a:rPr>
              <a:t>❌ No remote monitoring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CBD5E1"/>
                </a:solidFill>
              </a:rPr>
              <a:t>❌ No clinician feedback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CBD5E1"/>
                </a:solidFill>
              </a:rPr>
              <a:t>❌ No guidance for users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846320" y="1371600"/>
            <a:ext cx="3840480" cy="2926080"/>
          </a:xfrm>
          <a:prstGeom prst="rect">
            <a:avLst>
              <a:gd name="adj" fmla="val 3125"/>
            </a:avLst>
          </a:prstGeom>
          <a:solidFill>
            <a:srgbClr val="1E293B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0" y="155448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B82F6"/>
                </a:solidFill>
              </a:rPr>
              <a:t>Our Solution: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5029200" y="2103120"/>
            <a:ext cx="34747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8FAFC"/>
                </a:solidFill>
              </a:rPr>
              <a:t>A low-cost, locally developed TENS device integrated with intelligent monitoring software to bridge the gap between home and hospital.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0B981"/>
                </a:solidFill>
              </a:rPr>
              <a:t>Hardware Design: The Core Device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371600"/>
            <a:ext cx="4114800" cy="3200400"/>
          </a:xfrm>
          <a:prstGeom prst="rect">
            <a:avLst/>
          </a:prstGeom>
          <a:solidFill>
            <a:srgbClr val="1E293B"/>
          </a:solidFill>
          <a:ln w="25400">
            <a:solidFill>
              <a:srgbClr val="64748B"/>
            </a:solidFill>
            <a:prstDash val="dash"/>
          </a:ln>
        </p:spPr>
      </p:sp>
      <p:sp>
        <p:nvSpPr>
          <p:cNvPr id="4" name="Text 2"/>
          <p:cNvSpPr/>
          <p:nvPr/>
        </p:nvSpPr>
        <p:spPr>
          <a:xfrm>
            <a:off x="457200" y="13716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</a:rPr>
              <a:t>[ Insert Circuit / Prototype / Components Image Here ]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754880" y="1371600"/>
            <a:ext cx="393192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8FAFC"/>
                </a:solidFill>
              </a:rPr>
              <a:t>Internal Components:
</a:t>
            </a:r>
            <a:pPr indent="0" marL="0">
              <a:buNone/>
            </a:pPr>
            <a:r>
              <a:rPr lang="en-US" sz="1600" dirty="0">
                <a:solidFill>
                  <a:srgbClr val="CBD5E1"/>
                </a:solidFill>
              </a:rPr>
              <a:t>• Microcontroller Unit (Arduino)
• Battery Supply
• Electrodes
• Pulse Generation Circuit
• Hardware Safety Features
</a:t>
            </a:r>
            <a:pPr indent="0" marL="0">
              <a:buNone/>
            </a:pPr>
            <a:r>
              <a:rPr lang="en-US" sz="1800" b="1" dirty="0">
                <a:solidFill>
                  <a:srgbClr val="3B82F6"/>
                </a:solidFill>
              </a:rPr>
              <a:t>How it Works:
</a:t>
            </a:r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</a:rPr>
              <a:t>Generates controlled electrical pulses that stimulate nerves and reduce pain without medication.</a:t>
            </a:r>
            <a:endParaRPr lang="en-US" sz="2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0B981"/>
                </a:solidFill>
              </a:rPr>
              <a:t>Hardware Demonstration: Device in Action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371600"/>
            <a:ext cx="4114800" cy="3200400"/>
          </a:xfrm>
          <a:prstGeom prst="rect">
            <a:avLst/>
          </a:prstGeom>
          <a:solidFill>
            <a:srgbClr val="1E293B"/>
          </a:solidFill>
          <a:ln w="25400">
            <a:solidFill>
              <a:srgbClr val="64748B"/>
            </a:solidFill>
            <a:prstDash val="dash"/>
          </a:ln>
        </p:spPr>
      </p:sp>
      <p:sp>
        <p:nvSpPr>
          <p:cNvPr id="4" name="Text 2"/>
          <p:cNvSpPr/>
          <p:nvPr/>
        </p:nvSpPr>
        <p:spPr>
          <a:xfrm>
            <a:off x="457200" y="13716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</a:rPr>
              <a:t>[ Insert Patient Testing / Electrode Placement Photo Here ]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754880" y="1371600"/>
            <a:ext cx="393192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8FAFC"/>
                </a:solidFill>
              </a:rPr>
              <a:t>Operational Capabilities:
</a:t>
            </a:r>
            <a:pPr indent="0" marL="0">
              <a:buNone/>
            </a:pPr>
            <a:r>
              <a:rPr lang="en-US" sz="1800" dirty="0">
                <a:solidFill>
                  <a:srgbClr val="CBD5E1"/>
                </a:solidFill>
              </a:rPr>
              <a:t>• Frequency (Hz) Control</a:t>
            </a:r>
            <a:endParaRPr lang="en-US" sz="2000" dirty="0"/>
          </a:p>
          <a:p>
            <a:pPr indent="0" marL="0">
              <a:buNone/>
            </a:pPr>
            <a:r>
              <a:rPr lang="en-US" sz="1800" dirty="0">
                <a:solidFill>
                  <a:srgbClr val="CBD5E1"/>
                </a:solidFill>
              </a:rPr>
              <a:t>• Pulse Width (µs) Control</a:t>
            </a:r>
            <a:endParaRPr lang="en-US" sz="2000" dirty="0"/>
          </a:p>
          <a:p>
            <a:pPr indent="0" marL="0">
              <a:buNone/>
            </a:pPr>
            <a:r>
              <a:rPr lang="en-US" sz="1800" dirty="0">
                <a:solidFill>
                  <a:srgbClr val="CBD5E1"/>
                </a:solidFill>
              </a:rPr>
              <a:t>• Intensity (mA) Adjustment</a:t>
            </a:r>
            <a:endParaRPr lang="en-US" sz="2000" dirty="0"/>
          </a:p>
          <a:p>
            <a:pPr indent="0" marL="0">
              <a:buNone/>
            </a:pPr>
            <a:r>
              <a:rPr lang="en-US" sz="1800" dirty="0">
                <a:solidFill>
                  <a:srgbClr val="CBD5E1"/>
                </a:solidFill>
              </a:rPr>
              <a:t>• Portable Battery Operation</a:t>
            </a:r>
            <a:endParaRPr lang="en-US" sz="2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0B981"/>
                </a:solidFill>
              </a:rPr>
              <a:t>Innovative Features: What Makes TensPilot+ Different?</a:t>
            </a:r>
            <a:endParaRPr lang="en-US" sz="28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8229600" cy="2286000"/>
        </p:xfrm>
        <a:graphic>
          <a:graphicData uri="http://schemas.openxmlformats.org/drawingml/2006/table">
            <a:tbl>
              <a:tblPr/>
              <a:tblGrid>
                <a:gridCol w="2743200"/>
                <a:gridCol w="2743200"/>
                <a:gridCol w="274320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8FAFC"/>
                          </a:solidFill>
                        </a:rPr>
                        <a:t>Feature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82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8FAFC"/>
                          </a:solidFill>
                        </a:rPr>
                        <a:t>Traditional TENS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8FAFC"/>
                          </a:solidFill>
                        </a:rPr>
                        <a:t>TensPilot+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B98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F8FAFC"/>
                          </a:solidFill>
                        </a:rPr>
                        <a:t>Core Function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94A3B8"/>
                          </a:solidFill>
                        </a:rPr>
                        <a:t>Pain relief only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0B981"/>
                          </a:solidFill>
                        </a:rPr>
                        <a:t>Pain relief + Monitoring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F8FAFC"/>
                          </a:solidFill>
                        </a:rPr>
                        <a:t>Data Storage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94A3B8"/>
                          </a:solidFill>
                        </a:rPr>
                        <a:t>No data storage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0B981"/>
                          </a:solidFill>
                        </a:rPr>
                        <a:t>Cloud telemetry records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F8FAFC"/>
                          </a:solidFill>
                        </a:rPr>
                        <a:t>Clinical Access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94A3B8"/>
                          </a:solidFill>
                        </a:rPr>
                        <a:t>No clinician access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0B981"/>
                          </a:solidFill>
                        </a:rPr>
                        <a:t>Live Doctor Dashboard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F8FAFC"/>
                          </a:solidFill>
                        </a:rPr>
                        <a:t>Guidance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94A3B8"/>
                          </a:solidFill>
                        </a:rPr>
                        <a:t>None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0B981"/>
                          </a:solidFill>
                        </a:rPr>
                        <a:t>AI Assistant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F8FAFC"/>
                          </a:solidFill>
                        </a:rPr>
                        <a:t>Care Model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94A3B8"/>
                          </a:solidFill>
                        </a:rPr>
                        <a:t>Hospital-dependent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0B981"/>
                          </a:solidFill>
                        </a:rPr>
                        <a:t>Smart Home-based care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457200" y="39319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B82F6"/>
                </a:solidFill>
              </a:rPr>
              <a:t>Highlights: Real-time telemetry, AI physiotherapy assistant, Remote monitoring, Treatment analytics.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0B981"/>
                </a:solidFill>
              </a:rPr>
              <a:t>Software Ecosystem: Patient Application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371600"/>
            <a:ext cx="2743200" cy="3200400"/>
          </a:xfrm>
          <a:prstGeom prst="rect">
            <a:avLst/>
          </a:prstGeom>
          <a:solidFill>
            <a:srgbClr val="1E293B"/>
          </a:solidFill>
          <a:ln w="25400">
            <a:solidFill>
              <a:srgbClr val="64748B"/>
            </a:solidFill>
            <a:prstDash val="dash"/>
          </a:ln>
        </p:spPr>
      </p:sp>
      <p:sp>
        <p:nvSpPr>
          <p:cNvPr id="4" name="Text 2"/>
          <p:cNvSpPr/>
          <p:nvPr/>
        </p:nvSpPr>
        <p:spPr>
          <a:xfrm>
            <a:off x="457200" y="1371600"/>
            <a:ext cx="27432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</a:rPr>
              <a:t>[ Screenshot: App Home Page ]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383280" y="1371600"/>
            <a:ext cx="2743200" cy="3200400"/>
          </a:xfrm>
          <a:prstGeom prst="rect">
            <a:avLst/>
          </a:prstGeom>
          <a:solidFill>
            <a:srgbClr val="1E293B"/>
          </a:solidFill>
          <a:ln w="25400">
            <a:solidFill>
              <a:srgbClr val="64748B"/>
            </a:solidFill>
            <a:prstDash val="dash"/>
          </a:ln>
        </p:spPr>
      </p:sp>
      <p:sp>
        <p:nvSpPr>
          <p:cNvPr id="6" name="Text 4"/>
          <p:cNvSpPr/>
          <p:nvPr/>
        </p:nvSpPr>
        <p:spPr>
          <a:xfrm>
            <a:off x="3383280" y="1371600"/>
            <a:ext cx="27432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</a:rPr>
              <a:t>[ Screenshot: Session Logging ]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309360" y="1371600"/>
            <a:ext cx="27432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B82F6"/>
                </a:solidFill>
              </a:rPr>
              <a:t>App Features:
</a:t>
            </a:r>
            <a:pPr indent="0" marL="0">
              <a:buNone/>
            </a:pPr>
            <a:r>
              <a:rPr lang="en-US" sz="1600" dirty="0">
                <a:solidFill>
                  <a:srgbClr val="CBD5E1"/>
                </a:solidFill>
              </a:rPr>
              <a:t>• Live Session Recording</a:t>
            </a:r>
            <a:endParaRPr lang="en-US" sz="2000" dirty="0"/>
          </a:p>
          <a:p>
            <a:pPr indent="0" marL="0">
              <a:buNone/>
            </a:pPr>
            <a:r>
              <a:rPr lang="en-US" sz="1600" dirty="0">
                <a:solidFill>
                  <a:srgbClr val="CBD5E1"/>
                </a:solidFill>
              </a:rPr>
              <a:t>• Pain Tracking Algorithm</a:t>
            </a:r>
            <a:endParaRPr lang="en-US" sz="2000" dirty="0"/>
          </a:p>
          <a:p>
            <a:pPr indent="0" marL="0">
              <a:buNone/>
            </a:pPr>
            <a:r>
              <a:rPr lang="en-US" sz="1600" dirty="0">
                <a:solidFill>
                  <a:srgbClr val="CBD5E1"/>
                </a:solidFill>
              </a:rPr>
              <a:t>• Treatment Recommendations</a:t>
            </a:r>
            <a:endParaRPr lang="en-US" sz="2000" dirty="0"/>
          </a:p>
          <a:p>
            <a:pPr indent="0" marL="0">
              <a:buNone/>
            </a:pPr>
            <a:r>
              <a:rPr lang="en-US" sz="1600" dirty="0">
                <a:solidFill>
                  <a:srgbClr val="CBD5E1"/>
                </a:solidFill>
              </a:rPr>
              <a:t>• Offline Functionality (PWA)</a:t>
            </a:r>
            <a:endParaRPr lang="en-US" sz="2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0B981"/>
                </a:solidFill>
              </a:rPr>
              <a:t>Software Ecosystem: Remote Clinical Dashboard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371600"/>
            <a:ext cx="5029200" cy="3200400"/>
          </a:xfrm>
          <a:prstGeom prst="rect">
            <a:avLst/>
          </a:prstGeom>
          <a:solidFill>
            <a:srgbClr val="1E293B"/>
          </a:solidFill>
          <a:ln w="25400">
            <a:solidFill>
              <a:srgbClr val="64748B"/>
            </a:solidFill>
            <a:prstDash val="dash"/>
          </a:ln>
        </p:spPr>
      </p:sp>
      <p:sp>
        <p:nvSpPr>
          <p:cNvPr id="4" name="Text 2"/>
          <p:cNvSpPr/>
          <p:nvPr/>
        </p:nvSpPr>
        <p:spPr>
          <a:xfrm>
            <a:off x="457200" y="137160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</a:rPr>
              <a:t>[ Screenshot: Doctor Dashboard / Patient Records / Analytics ]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669280" y="1371600"/>
            <a:ext cx="32004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B82F6"/>
                </a:solidFill>
              </a:rPr>
              <a:t>Doctors Can:
</a:t>
            </a:r>
            <a:pPr indent="0" marL="0">
              <a:buNone/>
            </a:pPr>
            <a:r>
              <a:rPr lang="en-US" sz="1800" dirty="0">
                <a:solidFill>
                  <a:srgbClr val="CBD5E1"/>
                </a:solidFill>
              </a:rPr>
              <a:t>• Track compliance rates globally</a:t>
            </a:r>
            <a:endParaRPr lang="en-US" sz="2000" dirty="0"/>
          </a:p>
          <a:p>
            <a:pPr indent="0" marL="0">
              <a:buNone/>
            </a:pPr>
            <a:r>
              <a:rPr lang="en-US" sz="1800" dirty="0">
                <a:solidFill>
                  <a:srgbClr val="CBD5E1"/>
                </a:solidFill>
              </a:rPr>
              <a:t>• Monitor treatment effectiveness</a:t>
            </a:r>
            <a:endParaRPr lang="en-US" sz="2000" dirty="0"/>
          </a:p>
          <a:p>
            <a:pPr indent="0" marL="0">
              <a:buNone/>
            </a:pPr>
            <a:r>
              <a:rPr lang="en-US" sz="1800" dirty="0">
                <a:solidFill>
                  <a:srgbClr val="CBD5E1"/>
                </a:solidFill>
              </a:rPr>
              <a:t>• Review pain progression</a:t>
            </a:r>
            <a:endParaRPr lang="en-US" sz="2000" dirty="0"/>
          </a:p>
          <a:p>
            <a:pPr indent="0" marL="0">
              <a:buNone/>
            </a:pPr>
            <a:r>
              <a:rPr lang="en-US" sz="1800" dirty="0">
                <a:solidFill>
                  <a:srgbClr val="CBD5E1"/>
                </a:solidFill>
              </a:rPr>
              <a:t>• Adjust remote therapy plans</a:t>
            </a:r>
            <a:endParaRPr lang="en-US" sz="2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0B981"/>
                </a:solidFill>
              </a:rPr>
              <a:t>AI Integration: Virtual Physiotherapy Assistant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371600"/>
            <a:ext cx="3657600" cy="3200400"/>
          </a:xfrm>
          <a:prstGeom prst="rect">
            <a:avLst/>
          </a:prstGeom>
          <a:solidFill>
            <a:srgbClr val="1E293B"/>
          </a:solidFill>
          <a:ln w="25400">
            <a:solidFill>
              <a:srgbClr val="64748B"/>
            </a:solidFill>
            <a:prstDash val="dash"/>
          </a:ln>
        </p:spPr>
      </p:sp>
      <p:sp>
        <p:nvSpPr>
          <p:cNvPr id="4" name="Text 2"/>
          <p:cNvSpPr/>
          <p:nvPr/>
        </p:nvSpPr>
        <p:spPr>
          <a:xfrm>
            <a:off x="457200" y="1371600"/>
            <a:ext cx="36576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</a:rPr>
              <a:t>[ Screenshot: Gemini AI Chat ]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389120" y="1371600"/>
            <a:ext cx="429768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8FAFC"/>
                </a:solidFill>
              </a:rPr>
              <a:t>Gemini-Powered Capabilities:
</a:t>
            </a:r>
            <a:pPr indent="0" marL="0">
              <a:buNone/>
            </a:pPr>
            <a:r>
              <a:rPr lang="en-US" sz="1600" dirty="0">
                <a:solidFill>
                  <a:srgbClr val="CBD5E1"/>
                </a:solidFill>
              </a:rPr>
              <a:t>• Answers medical &amp; technical questions
• Recommends electrode placement
• Provides therapy guidance 24/7
</a:t>
            </a:r>
            <a:pPr indent="0" marL="0">
              <a:buNone/>
            </a:pPr>
            <a:r>
              <a:rPr lang="en-US" sz="1800" b="1" dirty="0">
                <a:solidFill>
                  <a:srgbClr val="10B981"/>
                </a:solidFill>
              </a:rPr>
              <a:t>Key Benefits:
</a:t>
            </a:r>
            <a:pPr indent="0" marL="0">
              <a:buNone/>
            </a:pPr>
            <a:r>
              <a:rPr lang="en-US" sz="1600" dirty="0">
                <a:solidFill>
                  <a:srgbClr val="CBD5E1"/>
                </a:solidFill>
              </a:rPr>
              <a:t>• Reduces patient misinformation</a:t>
            </a:r>
            <a:endParaRPr lang="en-US" sz="1800" dirty="0"/>
          </a:p>
          <a:p>
            <a:pPr indent="0" marL="0">
              <a:buNone/>
            </a:pPr>
            <a:r>
              <a:rPr lang="en-US" sz="1600" dirty="0">
                <a:solidFill>
                  <a:srgbClr val="CBD5E1"/>
                </a:solidFill>
              </a:rPr>
              <a:t>• Improves therapy adherence</a:t>
            </a:r>
            <a:endParaRPr lang="en-US" sz="1800" dirty="0"/>
          </a:p>
          <a:p>
            <a:pPr indent="0" marL="0">
              <a:buNone/>
            </a:pPr>
            <a:r>
              <a:rPr lang="en-US" sz="1600" dirty="0">
                <a:solidFill>
                  <a:srgbClr val="CBD5E1"/>
                </a:solidFill>
              </a:rPr>
              <a:t>• Enhances patient confidence at home</a:t>
            </a: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0B981"/>
                </a:solidFill>
              </a:rPr>
              <a:t>Sustainable Development Goals (SDGs)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371600"/>
            <a:ext cx="3931920" cy="1463040"/>
          </a:xfrm>
          <a:prstGeom prst="rect">
            <a:avLst>
              <a:gd name="adj" fmla="val 6250"/>
            </a:avLst>
          </a:prstGeom>
          <a:solidFill>
            <a:srgbClr val="1E293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630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ADE80"/>
                </a:solidFill>
              </a:rPr>
              <a:t>SDG 3: Good Health &amp; Well-Being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1920240"/>
            <a:ext cx="3657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BD5E1"/>
                </a:solidFill>
              </a:rPr>
              <a:t>Improved pain management &amp; Better quality of life.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754880" y="1371600"/>
            <a:ext cx="3931920" cy="1463040"/>
          </a:xfrm>
          <a:prstGeom prst="rect">
            <a:avLst>
              <a:gd name="adj" fmla="val 6250"/>
            </a:avLst>
          </a:prstGeom>
          <a:solidFill>
            <a:srgbClr val="1E293B"/>
          </a:solidFill>
          <a:ln/>
        </p:spPr>
      </p:sp>
      <p:sp>
        <p:nvSpPr>
          <p:cNvPr id="7" name="Text 5"/>
          <p:cNvSpPr/>
          <p:nvPr/>
        </p:nvSpPr>
        <p:spPr>
          <a:xfrm>
            <a:off x="4937760" y="14630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97316"/>
                </a:solidFill>
              </a:rPr>
              <a:t>SDG 9: Industry, Innovation &amp; Infrastructure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937760" y="1920240"/>
            <a:ext cx="3657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BD5E1"/>
                </a:solidFill>
              </a:rPr>
              <a:t>AI-enabled healthcare innovation through local hardware.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3108960"/>
            <a:ext cx="3931920" cy="1463040"/>
          </a:xfrm>
          <a:prstGeom prst="rect">
            <a:avLst>
              <a:gd name="adj" fmla="val 6250"/>
            </a:avLst>
          </a:prstGeom>
          <a:solidFill>
            <a:srgbClr val="1E293B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32004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C4899"/>
                </a:solidFill>
              </a:rPr>
              <a:t>SDG 10: Reduced Inequalities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40080" y="3657600"/>
            <a:ext cx="3657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BD5E1"/>
                </a:solidFill>
              </a:rPr>
              <a:t>Affordable care for underserved populations and rural areas.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754880" y="3108960"/>
            <a:ext cx="3931920" cy="1463040"/>
          </a:xfrm>
          <a:prstGeom prst="rect">
            <a:avLst>
              <a:gd name="adj" fmla="val 6250"/>
            </a:avLst>
          </a:prstGeom>
          <a:solidFill>
            <a:srgbClr val="1E293B"/>
          </a:solidFill>
          <a:ln/>
        </p:spPr>
      </p:sp>
      <p:sp>
        <p:nvSpPr>
          <p:cNvPr id="13" name="Text 11"/>
          <p:cNvSpPr/>
          <p:nvPr/>
        </p:nvSpPr>
        <p:spPr>
          <a:xfrm>
            <a:off x="4937760" y="32004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B82F6"/>
                </a:solidFill>
              </a:rPr>
              <a:t>SDG 17: Partnerships for the Goals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4937760" y="3657600"/>
            <a:ext cx="3657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BD5E1"/>
                </a:solidFill>
              </a:rPr>
              <a:t>Connects patients and clinicians digitally across the country.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0B981"/>
                </a:solidFill>
              </a:rPr>
              <a:t>Why It Is Better for Nigerians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F4444"/>
                </a:solidFill>
              </a:rPr>
              <a:t>Imported systems assume:
</a:t>
            </a:r>
            <a:pPr indent="0" marL="0">
              <a:buNone/>
            </a:pPr>
            <a:r>
              <a:rPr lang="en-US" sz="1600" dirty="0">
                <a:solidFill>
                  <a:srgbClr val="CBD5E1"/>
                </a:solidFill>
              </a:rPr>
              <a:t>Reliable internet • High-end smartphones • Expensive proprietary hardware
</a:t>
            </a:r>
            <a:pPr indent="0" marL="0">
              <a:buNone/>
            </a:pPr>
            <a:r>
              <a:rPr lang="en-US" sz="2000" b="1" dirty="0">
                <a:solidFill>
                  <a:srgbClr val="3B82F6"/>
                </a:solidFill>
              </a:rPr>
              <a:t>TensPilot+ is Designed for Local Conditions:
</a:t>
            </a:r>
            <a:pPr indent="0" marL="0">
              <a:buNone/>
            </a:pPr>
            <a:r>
              <a:rPr lang="en-US" sz="1800" dirty="0">
                <a:solidFill>
                  <a:srgbClr val="F8FAFC"/>
                </a:solidFill>
              </a:rPr>
              <a:t>✅ Low Cost</a:t>
            </a:r>
            <a:endParaRPr lang="en-US" sz="2000" dirty="0"/>
          </a:p>
          <a:p>
            <a:pPr indent="0" marL="0">
              <a:buNone/>
            </a:pPr>
            <a:r>
              <a:rPr lang="en-US" sz="1800" dirty="0">
                <a:solidFill>
                  <a:srgbClr val="F8FAFC"/>
                </a:solidFill>
              </a:rPr>
              <a:t>✅ Uses existing/local TENS hardware</a:t>
            </a:r>
            <a:endParaRPr lang="en-US" sz="2000" dirty="0"/>
          </a:p>
          <a:p>
            <a:pPr indent="0" marL="0">
              <a:buNone/>
            </a:pPr>
            <a:r>
              <a:rPr lang="en-US" sz="1800" dirty="0">
                <a:solidFill>
                  <a:srgbClr val="F8FAFC"/>
                </a:solidFill>
              </a:rPr>
              <a:t>✅ Works Offline via Service Workers</a:t>
            </a:r>
            <a:endParaRPr lang="en-US" sz="2000" dirty="0"/>
          </a:p>
          <a:p>
            <a:pPr indent="0" marL="0">
              <a:buNone/>
            </a:pPr>
            <a:r>
              <a:rPr lang="en-US" sz="1800" dirty="0">
                <a:solidFill>
                  <a:srgbClr val="F8FAFC"/>
                </a:solidFill>
              </a:rPr>
              <a:t>✅ Runs on low-end Android phones via Browser</a:t>
            </a:r>
            <a:endParaRPr lang="en-US" sz="2000" dirty="0"/>
          </a:p>
          <a:p>
            <a:pPr indent="0" marL="0">
              <a:buNone/>
            </a:pPr>
            <a:r>
              <a:rPr lang="en-US" sz="1800" dirty="0">
                <a:solidFill>
                  <a:srgbClr val="F8FAFC"/>
                </a:solidFill>
              </a:rPr>
              <a:t>✅ Reduces transportation costs for patients</a:t>
            </a:r>
            <a:endParaRPr lang="en-US" sz="2000" dirty="0"/>
          </a:p>
          <a:p>
            <a:pPr indent="0" marL="0">
              <a:buNone/>
            </a:pPr>
            <a:r>
              <a:rPr lang="en-US" sz="1800" dirty="0">
                <a:solidFill>
                  <a:srgbClr val="F8FAFC"/>
                </a:solidFill>
              </a:rPr>
              <a:t>✅ Suitable for rural healthcare clinics</a:t>
            </a:r>
            <a:endParaRPr lang="en-US" sz="2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0B981"/>
                </a:solidFill>
              </a:rPr>
              <a:t>Benefits for Vulnerable Demographics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371600"/>
            <a:ext cx="2560320" cy="3200400"/>
          </a:xfrm>
          <a:prstGeom prst="rect">
            <a:avLst>
              <a:gd name="adj" fmla="val 3571"/>
            </a:avLst>
          </a:prstGeom>
          <a:solidFill>
            <a:srgbClr val="1E293B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55448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C4899"/>
                </a:solidFill>
              </a:rPr>
              <a:t>Women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640080" y="2194560"/>
            <a:ext cx="219456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BD5E1"/>
                </a:solidFill>
              </a:rPr>
              <a:t>• Chronic pelvic pain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CBD5E1"/>
                </a:solidFill>
              </a:rPr>
              <a:t>• Post-surgical pain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CBD5E1"/>
                </a:solidFill>
              </a:rPr>
              <a:t>• Cancer-related pain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CBD5E1"/>
                </a:solidFill>
              </a:rPr>
              <a:t>• Menstrual pain management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291840" y="1371600"/>
            <a:ext cx="2560320" cy="3200400"/>
          </a:xfrm>
          <a:prstGeom prst="rect">
            <a:avLst>
              <a:gd name="adj" fmla="val 3571"/>
            </a:avLst>
          </a:prstGeom>
          <a:solidFill>
            <a:srgbClr val="1E293B"/>
          </a:solidFill>
          <a:ln/>
        </p:spPr>
      </p:sp>
      <p:sp>
        <p:nvSpPr>
          <p:cNvPr id="7" name="Text 5"/>
          <p:cNvSpPr/>
          <p:nvPr/>
        </p:nvSpPr>
        <p:spPr>
          <a:xfrm>
            <a:off x="3291840" y="155448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B82F6"/>
                </a:solidFill>
              </a:rPr>
              <a:t>Children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3474720" y="2194560"/>
            <a:ext cx="219456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BD5E1"/>
                </a:solidFill>
              </a:rPr>
              <a:t>• Non-drug pain management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CBD5E1"/>
                </a:solidFill>
              </a:rPr>
              <a:t>• Reduced medication exposure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CBD5E1"/>
                </a:solidFill>
              </a:rPr>
              <a:t>• Home-based monitoring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126480" y="1371600"/>
            <a:ext cx="2560320" cy="3200400"/>
          </a:xfrm>
          <a:prstGeom prst="rect">
            <a:avLst>
              <a:gd name="adj" fmla="val 3571"/>
            </a:avLst>
          </a:prstGeom>
          <a:solidFill>
            <a:srgbClr val="1E293B"/>
          </a:solidFill>
          <a:ln/>
        </p:spPr>
      </p:sp>
      <p:sp>
        <p:nvSpPr>
          <p:cNvPr id="10" name="Text 8"/>
          <p:cNvSpPr/>
          <p:nvPr/>
        </p:nvSpPr>
        <p:spPr>
          <a:xfrm>
            <a:off x="6126480" y="155448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0B981"/>
                </a:solidFill>
              </a:rPr>
              <a:t>Elderly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6309360" y="2194560"/>
            <a:ext cx="219456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BD5E1"/>
                </a:solidFill>
              </a:rPr>
              <a:t>• Arthritis management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CBD5E1"/>
                </a:solidFill>
              </a:rPr>
              <a:t>• Reduced clinic visits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CBD5E1"/>
                </a:solidFill>
              </a:rPr>
              <a:t>• Safe, remote clinician oversight</a:t>
            </a:r>
            <a:endParaRPr lang="en-US" sz="1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0B981"/>
                </a:solidFill>
              </a:rPr>
              <a:t>Market Comparison: Competitive Advantage</a:t>
            </a:r>
            <a:endParaRPr lang="en-US" sz="28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8229600" cy="2926080"/>
        </p:xfrm>
        <a:graphic>
          <a:graphicData uri="http://schemas.openxmlformats.org/drawingml/2006/table">
            <a:tbl>
              <a:tblPr/>
              <a:tblGrid>
                <a:gridCol w="2057400"/>
                <a:gridCol w="2057400"/>
                <a:gridCol w="2057400"/>
                <a:gridCol w="205740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8FAFC"/>
                          </a:solidFill>
                        </a:rPr>
                        <a:t>Feature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82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8FAFC"/>
                          </a:solidFill>
                        </a:rPr>
                        <a:t>Conventional TENS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8FAFC"/>
                          </a:solidFill>
                        </a:rPr>
                        <a:t>Imported Smart TENS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8FAFC"/>
                          </a:solidFill>
                        </a:rPr>
                        <a:t>TensPilot+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B98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F8FAFC"/>
                          </a:solidFill>
                        </a:rPr>
                        <a:t>Low Cost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0B981"/>
                          </a:solidFill>
                        </a:rPr>
                        <a:t>✓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EF4444"/>
                          </a:solidFill>
                        </a:rPr>
                        <a:t>✗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0B981"/>
                          </a:solidFill>
                        </a:rPr>
                        <a:t>✓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F8FAFC"/>
                          </a:solidFill>
                        </a:rPr>
                        <a:t>Remote Monitoring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EF4444"/>
                          </a:solidFill>
                        </a:rPr>
                        <a:t>✗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EAB308"/>
                          </a:solidFill>
                        </a:rPr>
                        <a:t>Limited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0B981"/>
                          </a:solidFill>
                        </a:rPr>
                        <a:t>✓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F8FAFC"/>
                          </a:solidFill>
                        </a:rPr>
                        <a:t>AI Guidance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EF4444"/>
                          </a:solidFill>
                        </a:rPr>
                        <a:t>✗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EF4444"/>
                          </a:solidFill>
                        </a:rPr>
                        <a:t>✗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0B981"/>
                          </a:solidFill>
                        </a:rPr>
                        <a:t>✓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F8FAFC"/>
                          </a:solidFill>
                        </a:rPr>
                        <a:t>Doctor Dashboard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EF4444"/>
                          </a:solidFill>
                        </a:rPr>
                        <a:t>✗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EF4444"/>
                          </a:solidFill>
                        </a:rPr>
                        <a:t>✗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0B981"/>
                          </a:solidFill>
                        </a:rPr>
                        <a:t>✓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F8FAFC"/>
                          </a:solidFill>
                        </a:rPr>
                        <a:t>Offline Use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0B981"/>
                          </a:solidFill>
                        </a:rPr>
                        <a:t>✓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EAB308"/>
                          </a:solidFill>
                        </a:rPr>
                        <a:t>Limited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0B981"/>
                          </a:solidFill>
                        </a:rPr>
                        <a:t>✓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F8FAFC"/>
                          </a:solidFill>
                        </a:rPr>
                        <a:t>Nigeria-Focused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EF4444"/>
                          </a:solidFill>
                        </a:rPr>
                        <a:t>✗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EF4444"/>
                          </a:solidFill>
                        </a:rPr>
                        <a:t>✗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0B981"/>
                          </a:solidFill>
                        </a:rPr>
                        <a:t>✓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0B981"/>
                </a:solidFill>
              </a:rPr>
              <a:t>Future Expansion: Roadmap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371600"/>
            <a:ext cx="7772400" cy="548640"/>
          </a:xfrm>
          <a:prstGeom prst="rect">
            <a:avLst>
              <a:gd name="adj" fmla="val 16667"/>
            </a:avLst>
          </a:prstGeom>
          <a:solidFill>
            <a:srgbClr val="1E293B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37160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CBD5E1"/>
                </a:solidFill>
              </a:rPr>
              <a:t>Phase 1: Standalone TENS hardware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57200" y="2011680"/>
            <a:ext cx="7772400" cy="548640"/>
          </a:xfrm>
          <a:prstGeom prst="rect">
            <a:avLst>
              <a:gd name="adj" fmla="val 16667"/>
            </a:avLst>
          </a:prstGeom>
          <a:solidFill>
            <a:srgbClr val="2563EB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201168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8FAFC"/>
                </a:solidFill>
              </a:rPr>
              <a:t>Phase 2: Telemetry software (Current Phase)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457200" y="2651760"/>
            <a:ext cx="7772400" cy="548640"/>
          </a:xfrm>
          <a:prstGeom prst="rect">
            <a:avLst>
              <a:gd name="adj" fmla="val 16667"/>
            </a:avLst>
          </a:prstGeom>
          <a:solidFill>
            <a:srgbClr val="1E293B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265176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CBD5E1"/>
                </a:solidFill>
              </a:rPr>
              <a:t>Phase 3: Bluetooth-enabled hardware integration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457200" y="3291840"/>
            <a:ext cx="7772400" cy="548640"/>
          </a:xfrm>
          <a:prstGeom prst="rect">
            <a:avLst>
              <a:gd name="adj" fmla="val 16667"/>
            </a:avLst>
          </a:prstGeom>
          <a:solidFill>
            <a:srgbClr val="1E293B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329184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CBD5E1"/>
                </a:solidFill>
              </a:rPr>
              <a:t>Phase 4: Official Hospital deployment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457200" y="3931920"/>
            <a:ext cx="7772400" cy="548640"/>
          </a:xfrm>
          <a:prstGeom prst="rect">
            <a:avLst>
              <a:gd name="adj" fmla="val 16667"/>
            </a:avLst>
          </a:prstGeom>
          <a:solidFill>
            <a:srgbClr val="10B981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" y="393192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8FAFC"/>
                </a:solidFill>
              </a:rPr>
              <a:t>Phase 5: National pain-management platform</a:t>
            </a:r>
            <a:endParaRPr lang="en-US" sz="1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914400"/>
            <a:ext cx="7315200" cy="3200400"/>
          </a:xfrm>
          <a:prstGeom prst="rect">
            <a:avLst>
              <a:gd name="adj" fmla="val 5714"/>
            </a:avLst>
          </a:prstGeom>
          <a:solidFill>
            <a:srgbClr val="1E293B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109728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3B82F6"/>
                </a:solidFill>
              </a:rPr>
              <a:t>TensPilot+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914400" y="16459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8FAFC"/>
                </a:solidFill>
              </a:rPr>
              <a:t>A practical, affordable, and intelligent electrotherapy ecosystem that: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14400" y="2103120"/>
            <a:ext cx="7315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CBD5E1"/>
                </a:solidFill>
              </a:rPr>
              <a:t>• Relieves pain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dirty="0">
                <a:solidFill>
                  <a:srgbClr val="CBD5E1"/>
                </a:solidFill>
              </a:rPr>
              <a:t>• Supports clinicians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dirty="0">
                <a:solidFill>
                  <a:srgbClr val="CBD5E1"/>
                </a:solidFill>
              </a:rPr>
              <a:t>• Empowers patients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dirty="0">
                <a:solidFill>
                  <a:srgbClr val="CBD5E1"/>
                </a:solidFill>
              </a:rPr>
              <a:t>• Reduces healthcare burden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dirty="0">
                <a:solidFill>
                  <a:srgbClr val="CBD5E1"/>
                </a:solidFill>
              </a:rPr>
              <a:t>• Advances digital health innovation in Nigeria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14400" y="34747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i="1" dirty="0">
                <a:solidFill>
                  <a:srgbClr val="10B981"/>
                </a:solidFill>
              </a:rPr>
              <a:t>"From Pain Relief to Intelligent Pain Management."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2026-06-08T07:44:44Z</dcterms:created>
  <dcterms:modified xsi:type="dcterms:W3CDTF">2026-06-08T07:44:44Z</dcterms:modified>
</cp:coreProperties>
</file>