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TensPilot+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of a Dual-Mode TENS Device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3337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Companion Web Application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560320" cy="4846320"/>
          </a:xfrm>
          <a:prstGeom prst="rect">
            <a:avLst/>
          </a:prstGeom>
          <a:solidFill>
            <a:srgbClr val="F0F4F8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34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Problem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Device Design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Two Modes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Testing &amp; Results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1097280"/>
            <a:ext cx="2560320" cy="4846320"/>
          </a:xfrm>
          <a:prstGeom prst="rect">
            <a:avLst/>
          </a:prstGeom>
          <a:solidFill>
            <a:srgbClr val="F0F4F8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234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91840" y="178308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Patient App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They Work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Features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560320" cy="4846320"/>
          </a:xfrm>
          <a:prstGeom prst="rect">
            <a:avLst/>
          </a:prstGeom>
          <a:solidFill>
            <a:srgbClr val="F0F4F8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234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26480" y="178308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Why It Matters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Accessibility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Innovation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Thank You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657600" cy="4389120"/>
          </a:xfrm>
          <a:prstGeom prst="rect">
            <a:avLst/>
          </a:prstGeom>
          <a:solidFill>
            <a:srgbClr val="F0F4F8"/>
          </a:solidFill>
          <a:ln w="38100">
            <a:solidFill>
              <a:srgbClr val="FF6B35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2743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TENS Device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(isolated, no tracking)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38912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480560" y="150876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session recording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compliance tracking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feedback to patient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Parameters unknown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progress tracking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Difficult to use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Design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4114800"/>
          </a:xfrm>
          <a:prstGeom prst="rect">
            <a:avLst/>
          </a:prstGeom>
          <a:solidFill>
            <a:srgbClr val="E3F2FD"/>
          </a:solidFill>
          <a:ln w="38100">
            <a:solidFill>
              <a:srgbClr val="00A896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114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(Device showing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display,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&amp; layout)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150876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Arduino Uno (ATmega328P)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L298N H-Bridge driver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XL6009 Boost converter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20x4 LCD display with I2C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5V Power Bank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Size: 150×100×56 mm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Weight: ~350g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Battery: 4+ hours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Therapy Modes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4389120"/>
          </a:xfrm>
          <a:prstGeom prst="rect">
            <a:avLst/>
          </a:prstGeom>
          <a:solidFill>
            <a:srgbClr val="F0F4F8"/>
          </a:solidFill>
          <a:ln w="381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20–120 Hz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pain relief</a:t>
            </a:r>
            <a:endParaRPr lang="en-US" sz="1100" dirty="0"/>
          </a:p>
          <a:p>
            <a:pPr algn="ctr" indent="0" marL="0">
              <a:lnSpc>
                <a:spcPts val="800"/>
              </a:lnSpc>
              <a:buNone/>
            </a:pPr>
            <a:endParaRPr lang="en-US" sz="110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(10–20 minutes)</a:t>
            </a:r>
            <a:endParaRPr lang="en-US" sz="1100" dirty="0"/>
          </a:p>
          <a:p>
            <a:pPr algn="ctr" indent="0" marL="0">
              <a:lnSpc>
                <a:spcPts val="800"/>
              </a:lnSpc>
              <a:buNone/>
            </a:pPr>
            <a:endParaRPr lang="en-US" sz="1100" dirty="0"/>
          </a:p>
          <a:p>
            <a:pPr algn="ctr" indent="0" marL="0">
              <a:lnSpc>
                <a:spcPts val="800"/>
              </a:lnSpc>
              <a:buNone/>
            </a:pPr>
            <a:endParaRPr lang="en-US" sz="1100" dirty="0"/>
          </a:p>
          <a:p>
            <a:pPr algn="ctr" indent="0" marL="0">
              <a:lnSpc>
                <a:spcPts val="800"/>
              </a:lnSpc>
              <a:buNone/>
            </a:pPr>
            <a:endParaRPr lang="en-US" sz="110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acute pain &amp;</a:t>
            </a:r>
            <a:endParaRPr lang="en-US" sz="1100" dirty="0"/>
          </a:p>
          <a:p>
            <a:pPr algn="ctr" indent="0" marL="0">
              <a:lnSpc>
                <a:spcPts val="800"/>
              </a:lnSpc>
              <a:buNone/>
            </a:pPr>
            <a:endParaRPr lang="en-US" sz="110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soreness</a:t>
            </a:r>
            <a:endParaRPr lang="en-US" sz="1100" dirty="0"/>
          </a:p>
          <a:p>
            <a:pPr algn="ctr" indent="0" marL="0">
              <a:lnSpc>
                <a:spcPts val="800"/>
              </a:lnSpc>
              <a:buNone/>
            </a:pPr>
            <a:endParaRPr lang="en-US" sz="1100" dirty="0"/>
          </a:p>
          <a:p>
            <a:pPr algn="ctr" indent="0" marL="0">
              <a:lnSpc>
                <a:spcPts val="800"/>
              </a:lnSpc>
              <a:buNone/>
            </a:pPr>
            <a:endParaRPr lang="en-US" sz="1100" dirty="0"/>
          </a:p>
          <a:p>
            <a:pPr algn="ctr" indent="0" marL="0">
              <a:lnSpc>
                <a:spcPts val="800"/>
              </a:lnSpc>
              <a:buNone/>
            </a:pPr>
            <a:endParaRPr lang="en-US" sz="110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tingling</a:t>
            </a:r>
            <a:endParaRPr lang="en-US" sz="1100" dirty="0"/>
          </a:p>
          <a:p>
            <a:pPr algn="ctr" indent="0" marL="0">
              <a:lnSpc>
                <a:spcPts val="800"/>
              </a:lnSpc>
              <a:buNone/>
            </a:pPr>
            <a:endParaRPr lang="en-US" sz="110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4389120"/>
          </a:xfrm>
          <a:prstGeom prst="rect">
            <a:avLst/>
          </a:prstGeom>
          <a:solidFill>
            <a:srgbClr val="F0F4F8"/>
          </a:solidFill>
          <a:ln w="381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ACUPUNCTURE-LIKE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0" y="1600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1–10 Hz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205740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relief</a:t>
            </a:r>
            <a:endParaRPr lang="en-US" sz="1100" dirty="0"/>
          </a:p>
          <a:p>
            <a:pPr algn="ctr" indent="0" marL="0">
              <a:lnSpc>
                <a:spcPts val="800"/>
              </a:lnSpc>
              <a:buNone/>
            </a:pPr>
            <a:endParaRPr lang="en-US" sz="110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(90–180 minutes)</a:t>
            </a:r>
            <a:endParaRPr lang="en-US" sz="1100" dirty="0"/>
          </a:p>
          <a:p>
            <a:pPr algn="ctr" indent="0" marL="0">
              <a:lnSpc>
                <a:spcPts val="800"/>
              </a:lnSpc>
              <a:buNone/>
            </a:pPr>
            <a:endParaRPr lang="en-US" sz="1100" dirty="0"/>
          </a:p>
          <a:p>
            <a:pPr algn="ctr" indent="0" marL="0">
              <a:lnSpc>
                <a:spcPts val="800"/>
              </a:lnSpc>
              <a:buNone/>
            </a:pPr>
            <a:endParaRPr lang="en-US" sz="1100" dirty="0"/>
          </a:p>
          <a:p>
            <a:pPr algn="ctr" indent="0" marL="0">
              <a:lnSpc>
                <a:spcPts val="800"/>
              </a:lnSpc>
              <a:buNone/>
            </a:pPr>
            <a:endParaRPr lang="en-US" sz="110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chronic &amp;</a:t>
            </a:r>
            <a:endParaRPr lang="en-US" sz="1100" dirty="0"/>
          </a:p>
          <a:p>
            <a:pPr algn="ctr" indent="0" marL="0">
              <a:lnSpc>
                <a:spcPts val="800"/>
              </a:lnSpc>
              <a:buNone/>
            </a:pPr>
            <a:endParaRPr lang="en-US" sz="110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neuropathic pain</a:t>
            </a:r>
            <a:endParaRPr lang="en-US" sz="1100" dirty="0"/>
          </a:p>
          <a:p>
            <a:pPr algn="ctr" indent="0" marL="0">
              <a:lnSpc>
                <a:spcPts val="800"/>
              </a:lnSpc>
              <a:buNone/>
            </a:pPr>
            <a:endParaRPr lang="en-US" sz="1100" dirty="0"/>
          </a:p>
          <a:p>
            <a:pPr algn="ctr" indent="0" marL="0">
              <a:lnSpc>
                <a:spcPts val="800"/>
              </a:lnSpc>
              <a:buNone/>
            </a:pPr>
            <a:endParaRPr lang="en-US" sz="1100" dirty="0"/>
          </a:p>
          <a:p>
            <a:pPr algn="ctr" indent="0" marL="0">
              <a:lnSpc>
                <a:spcPts val="800"/>
              </a:lnSpc>
              <a:buNone/>
            </a:pPr>
            <a:endParaRPr lang="en-US" sz="110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Rhythmic tapping</a:t>
            </a:r>
            <a:endParaRPr lang="en-US" sz="1100" dirty="0"/>
          </a:p>
          <a:p>
            <a:pPr algn="ctr" indent="0" marL="0">
              <a:lnSpc>
                <a:spcPts val="800"/>
              </a:lnSpc>
              <a:buNone/>
            </a:pPr>
            <a:endParaRPr lang="en-US" sz="110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contractions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App: TensPilot+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560320" cy="4389120"/>
          </a:xfrm>
          <a:prstGeom prst="rect">
            <a:avLst/>
          </a:prstGeom>
          <a:solidFill>
            <a:srgbClr val="E3F2FD"/>
          </a:solidFill>
          <a:ln w="25400">
            <a:solidFill>
              <a:srgbClr val="00A896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365760" y="1143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Setup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25603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005840"/>
            <a:ext cx="2560320" cy="4389120"/>
          </a:xfrm>
          <a:prstGeom prst="rect">
            <a:avLst/>
          </a:prstGeom>
          <a:solidFill>
            <a:srgbClr val="E3F2FD"/>
          </a:solidFill>
          <a:ln w="25400">
            <a:solidFill>
              <a:srgbClr val="00A89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200400" y="1143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Session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25603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560320" cy="4389120"/>
          </a:xfrm>
          <a:prstGeom prst="rect">
            <a:avLst/>
          </a:prstGeom>
          <a:solidFill>
            <a:srgbClr val="E3F2FD"/>
          </a:solidFill>
          <a:ln w="25400">
            <a:solidFill>
              <a:srgbClr val="00A89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035040" y="1143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Tracking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25603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5577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Session setup • Real-time countdown • Pain logging • Session history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Progress Tracking &amp; Analytics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560320" cy="4389120"/>
          </a:xfrm>
          <a:prstGeom prst="rect">
            <a:avLst/>
          </a:prstGeom>
          <a:solidFill>
            <a:srgbClr val="E3F2FD"/>
          </a:solidFill>
          <a:ln w="25400">
            <a:solidFill>
              <a:srgbClr val="00A896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365760" y="1143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Stats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23774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1005840"/>
            <a:ext cx="2560320" cy="4389120"/>
          </a:xfrm>
          <a:prstGeom prst="rect">
            <a:avLst/>
          </a:prstGeom>
          <a:solidFill>
            <a:srgbClr val="E3F2FD"/>
          </a:solidFill>
          <a:ln w="25400">
            <a:solidFill>
              <a:srgbClr val="00A89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200400" y="1143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Charts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23774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560320" cy="4389120"/>
          </a:xfrm>
          <a:prstGeom prst="rect">
            <a:avLst/>
          </a:prstGeom>
          <a:solidFill>
            <a:srgbClr val="E3F2FD"/>
          </a:solidFill>
          <a:ln w="25400">
            <a:solidFill>
              <a:srgbClr val="00A89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035040" y="1143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History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23774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5577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Total sessions • Average relief % • Pain reduction trends • Milestones &amp; achievements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Hardware &amp; Software Work Together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474720" cy="2560320"/>
          </a:xfrm>
          <a:prstGeom prst="rect">
            <a:avLst/>
          </a:prstGeom>
          <a:solidFill>
            <a:srgbClr val="F0F4F8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0" y="1828800"/>
            <a:ext cx="731520" cy="32004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0" y="1005840"/>
            <a:ext cx="3474720" cy="2560320"/>
          </a:xfrm>
          <a:prstGeom prst="rect">
            <a:avLst/>
          </a:prstGeom>
          <a:solidFill>
            <a:srgbClr val="F0F4F8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6459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Workflow: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8229600" cy="1280160"/>
          </a:xfrm>
          <a:prstGeom prst="rect">
            <a:avLst/>
          </a:prstGeom>
          <a:solidFill>
            <a:srgbClr val="F0F4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2062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app → Set up session  •  2. Turn on device &amp; adjust frequency/intensity  •  3. Place electrodes  •  4. Run therapy (app timer + device pulses)  •  5. Log pain relief in app  •  6. View results in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4389120"/>
          </a:xfrm>
          <a:prstGeom prst="rect">
            <a:avLst/>
          </a:prstGeom>
          <a:solidFill>
            <a:srgbClr val="E3F2FD"/>
          </a:solidFill>
          <a:ln w="38100">
            <a:solidFill>
              <a:srgbClr val="00A896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(Device 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forearm, electrodes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6344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from 12 Volunteers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155448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Signal accuracy: ±2%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Charge balance: &gt;98%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Frequency range: 1–120 Hz stable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Battery life: 4+ hours continuous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Conventional mode: smooth tingling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Acupuncture mode: rhythmic tapping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adverse effects reported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Safe electrical parameters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Key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4389120"/>
          </a:xfrm>
          <a:prstGeom prst="rect">
            <a:avLst/>
          </a:prstGeom>
          <a:solidFill>
            <a:srgbClr val="F0F4F8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Dual-mode capability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Arduino-based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Open-source design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20–30% cheaper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0" y="1005840"/>
            <a:ext cx="2560320" cy="4389120"/>
          </a:xfrm>
          <a:prstGeom prst="rect">
            <a:avLst/>
          </a:prstGeom>
          <a:solidFill>
            <a:srgbClr val="F0F4F8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16916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Progressive Web App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Offline-first (no internet)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 data storage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Privacy-focused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0" y="1005840"/>
            <a:ext cx="2560320" cy="4389120"/>
          </a:xfrm>
          <a:prstGeom prst="rect">
            <a:avLst/>
          </a:prstGeom>
          <a:solidFill>
            <a:srgbClr val="F0F4F8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35040" y="16916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data entry (current)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 tracking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Progress analytics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Future: Bluetooth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4389120"/>
          </a:xfrm>
          <a:prstGeom prst="rect">
            <a:avLst/>
          </a:prstGeom>
          <a:solidFill>
            <a:srgbClr val="F0F4F8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1143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Patients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Know how to use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progress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See results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 guidance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560320" cy="4389120"/>
          </a:xfrm>
          <a:prstGeom prst="rect">
            <a:avLst/>
          </a:prstGeom>
          <a:solidFill>
            <a:srgbClr val="F0F4F8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0" y="1143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Providers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205740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 compliance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outcomes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Make decisions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Evidence-based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0" y="1005840"/>
            <a:ext cx="2560320" cy="4389120"/>
          </a:xfrm>
          <a:prstGeom prst="rect">
            <a:avLst/>
          </a:prstGeom>
          <a:solidFill>
            <a:srgbClr val="F0F4F8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143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943600" y="1600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205740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₦77,020 cost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20-30% cheaper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Open-source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Resource-limited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3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TensPilot+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Pain Management Accessible &amp; Evidence-Based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2026-06-08T08:27:39Z</dcterms:created>
  <dcterms:modified xsi:type="dcterms:W3CDTF">2026-06-08T08:27:39Z</dcterms:modified>
</cp:coreProperties>
</file>