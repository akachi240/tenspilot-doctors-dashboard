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MASTER">
    <p:bg>
      <p:bgPr>
        <a:solidFill>
          <a:srgbClr val="0B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TensPilot+ Smart Telemetry Ecosystem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4672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CODET Project Presentation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TensPilot+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of a Dual-Mode TENS Device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337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Companion Web Application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Outline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097280"/>
            <a:ext cx="7315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2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 Problem &amp; Our Solution</a:t>
            </a:r>
            <a:endParaRPr lang="en-US" sz="22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endParaRPr lang="en-US" sz="22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2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Hardware Design &amp; Specifications</a:t>
            </a:r>
            <a:endParaRPr lang="en-US" sz="22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endParaRPr lang="en-US" sz="22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2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Testing &amp; Clinical Results</a:t>
            </a:r>
            <a:endParaRPr lang="en-US" sz="22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endParaRPr lang="en-US" sz="22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2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Two Therapy Modes</a:t>
            </a:r>
            <a:endParaRPr lang="en-US" sz="22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endParaRPr lang="en-US" sz="22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2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Software Ecosystem (Patient App &amp; Doctor Dashboard)</a:t>
            </a:r>
            <a:endParaRPr lang="en-US" sz="22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endParaRPr lang="en-US" sz="22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2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 Integration (Gemini)</a:t>
            </a:r>
            <a:endParaRPr lang="en-US" sz="22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endParaRPr lang="en-US" sz="22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2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Innovation &amp; Key Features</a:t>
            </a:r>
            <a:endParaRPr lang="en-US" sz="22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endParaRPr lang="en-US" sz="22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2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Impact &amp; SDGs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The Problem &amp; Our Solution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3200400"/>
          </a:xfrm>
          <a:prstGeom prst="roundRect">
            <a:avLst>
              <a:gd name="adj" fmla="val 2857"/>
            </a:avLst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3383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Standard TENS machines are standalone systems.</a:t>
            </a:r>
            <a:endParaRPr lang="en-US" sz="18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tracking of pulse width, frequency, or intensity.</a:t>
            </a:r>
            <a:endParaRPr lang="en-US" sz="18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Reliance on unreliable paper diaries.</a:t>
            </a:r>
            <a:endParaRPr lang="en-US" sz="18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Doctors have limited visibility into home therapy.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754880" y="1188720"/>
            <a:ext cx="3931920" cy="3200400"/>
          </a:xfrm>
          <a:prstGeom prst="roundRect">
            <a:avLst>
              <a:gd name="adj" fmla="val 2857"/>
            </a:avLst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0" y="13716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200" y="2011680"/>
            <a:ext cx="3383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low-cost, locally developed TENS device integrated with an intelligent monitoring platform to bridge the gap between home and hospital.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Hardware Design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3291840"/>
          </a:xfrm>
          <a:prstGeom prst="rect">
            <a:avLst/>
          </a:prstGeom>
          <a:solidFill>
            <a:srgbClr val="0B1320"/>
          </a:solidFill>
          <a:ln w="25400"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0"/>
            <a:ext cx="41148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D4BF"/>
                </a:solidFill>
              </a:rPr>
              <a:t>HARDWARE PHOTO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DD4BF"/>
                </a:solidFill>
              </a:rPr>
              <a:t>(Device showing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DD4BF"/>
                </a:solidFill>
              </a:rPr>
              <a:t>LCD display, controls &amp; layout)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754880" y="11887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754880" y="1737360"/>
            <a:ext cx="39319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Arduino Uno (ATmega328P)</a:t>
            </a:r>
            <a:endParaRPr lang="en-US" sz="18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L298N H-Bridge driver</a:t>
            </a:r>
            <a:endParaRPr lang="en-US" sz="18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XL6009 Boost converter</a:t>
            </a:r>
            <a:endParaRPr lang="en-US" sz="18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20x4 LCD display</a:t>
            </a:r>
            <a:endParaRPr lang="en-US" sz="18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5V Power Bank</a:t>
            </a:r>
            <a:endParaRPr lang="en-US" sz="18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Size: 150×100×56 mm</a:t>
            </a:r>
            <a:endParaRPr lang="en-US" sz="18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Weight: ~350g</a:t>
            </a:r>
            <a:endParaRPr lang="en-US" sz="18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Battery: 4+ hours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Testing &amp; Results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3291840"/>
          </a:xfrm>
          <a:prstGeom prst="rect">
            <a:avLst/>
          </a:prstGeom>
          <a:solidFill>
            <a:srgbClr val="0B1320"/>
          </a:solidFill>
          <a:ln w="25400"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0"/>
            <a:ext cx="41148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D4BF"/>
                </a:solidFill>
              </a:rPr>
              <a:t>VOLUNTEER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DD4BF"/>
                </a:solidFill>
              </a:rPr>
              <a:t>TESTING PHOTO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DD4BF"/>
                </a:solidFill>
              </a:rPr>
              <a:t>(Device on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DD4BF"/>
                </a:solidFill>
              </a:rPr>
              <a:t>forearm, electrodes placed)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754880" y="11887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from 12 Volunteers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754880" y="1737360"/>
            <a:ext cx="39319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Signal accuracy: ±2%</a:t>
            </a:r>
            <a:endParaRPr lang="en-US" sz="16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Charge balance: &gt;98%</a:t>
            </a:r>
            <a:endParaRPr lang="en-US" sz="16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Frequency range: 1–120 Hz stable</a:t>
            </a:r>
            <a:endParaRPr lang="en-US" sz="16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Battery life: 4+ hours continuous</a:t>
            </a:r>
            <a:endParaRPr lang="en-US" sz="16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Conventional mode: smooth tingling</a:t>
            </a:r>
            <a:endParaRPr lang="en-US" sz="16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Acupuncture mode: rhythmic tapping</a:t>
            </a:r>
            <a:endParaRPr lang="en-US" sz="16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adverse effects reported</a:t>
            </a:r>
            <a:endParaRPr lang="en-US" sz="16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Safe electrical parameters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Two Therapy Modes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3200400"/>
          </a:xfrm>
          <a:prstGeom prst="roundRect">
            <a:avLst>
              <a:gd name="adj" fmla="val 2857"/>
            </a:avLst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MODE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20–120 Hz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pain relief (10–20 minutes)</a:t>
            </a:r>
            <a:endParaRPr lang="en-US" sz="1800" dirty="0"/>
          </a:p>
          <a:p>
            <a:pPr algn="ctr" indent="0" marL="0">
              <a:lnSpc>
                <a:spcPts val="1800"/>
              </a:lnSpc>
              <a:buNone/>
            </a:pPr>
            <a:endParaRPr lang="en-US" sz="18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acute pain &amp; muscle soreness</a:t>
            </a:r>
            <a:endParaRPr lang="en-US" sz="1800" dirty="0"/>
          </a:p>
          <a:p>
            <a:pPr algn="ctr" indent="0" marL="0">
              <a:lnSpc>
                <a:spcPts val="1800"/>
              </a:lnSpc>
              <a:buNone/>
            </a:pPr>
            <a:endParaRPr lang="en-US" sz="18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tingling sensation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3931920" cy="3200400"/>
          </a:xfrm>
          <a:prstGeom prst="roundRect">
            <a:avLst>
              <a:gd name="adj" fmla="val 2857"/>
            </a:avLst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0" y="13716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ACUPUNCTURE-LIKE MODE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754880" y="18288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1–10 Hz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754880" y="237744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relief (90–180 minutes)</a:t>
            </a:r>
            <a:endParaRPr lang="en-US" sz="1800" dirty="0"/>
          </a:p>
          <a:p>
            <a:pPr algn="ctr" indent="0" marL="0">
              <a:lnSpc>
                <a:spcPts val="1800"/>
              </a:lnSpc>
              <a:buNone/>
            </a:pPr>
            <a:endParaRPr lang="en-US" sz="18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chronic &amp; neuropathic pain</a:t>
            </a:r>
            <a:endParaRPr lang="en-US" sz="1800" dirty="0"/>
          </a:p>
          <a:p>
            <a:pPr algn="ctr" indent="0" marL="0">
              <a:lnSpc>
                <a:spcPts val="1800"/>
              </a:lnSpc>
              <a:buNone/>
            </a:pPr>
            <a:endParaRPr lang="en-US" sz="18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Rhythmic tapping with contractions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Ecosystem: Patient Application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828800" cy="3474720"/>
          </a:xfrm>
          <a:prstGeom prst="rect">
            <a:avLst/>
          </a:prstGeom>
          <a:solidFill>
            <a:srgbClr val="0B1320"/>
          </a:solidFill>
          <a:ln w="25400"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18288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D4BF"/>
                </a:solidFill>
              </a:rPr>
              <a:t>Home &amp; Setup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DD4BF"/>
                </a:solidFill>
              </a:rPr>
              <a:t>Screenshot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377440" y="1005840"/>
            <a:ext cx="1828800" cy="3474720"/>
          </a:xfrm>
          <a:prstGeom prst="rect">
            <a:avLst/>
          </a:prstGeom>
          <a:solidFill>
            <a:srgbClr val="0B1320"/>
          </a:solidFill>
          <a:ln w="25400"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377440" y="1005840"/>
            <a:ext cx="18288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D4BF"/>
                </a:solidFill>
              </a:rPr>
              <a:t>Active Session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DD4BF"/>
                </a:solidFill>
              </a:rPr>
              <a:t>Screenshot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297680" y="1005840"/>
            <a:ext cx="1828800" cy="3474720"/>
          </a:xfrm>
          <a:prstGeom prst="rect">
            <a:avLst/>
          </a:prstGeom>
          <a:solidFill>
            <a:srgbClr val="0B1320"/>
          </a:solidFill>
          <a:ln w="25400"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0" y="1005840"/>
            <a:ext cx="18288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D4BF"/>
                </a:solidFill>
              </a:rPr>
              <a:t>Session History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DD4BF"/>
                </a:solidFill>
              </a:rPr>
              <a:t>Screenshot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0" y="13716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Features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0" y="201168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Intuitive Setup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Live Logging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Pain Tracking Algorithm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Offline Access (PWA)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Ecosystem: Doctor Dashboard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657600" cy="3474720"/>
          </a:xfrm>
          <a:prstGeom prst="rect">
            <a:avLst/>
          </a:prstGeom>
          <a:solidFill>
            <a:srgbClr val="0B1320"/>
          </a:solidFill>
          <a:ln w="25400"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36576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D4BF"/>
                </a:solidFill>
              </a:rPr>
              <a:t>Main Dashboard View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DD4BF"/>
                </a:solidFill>
              </a:rPr>
              <a:t>(Total Patients, Pain Stats,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DD4BF"/>
                </a:solidFill>
              </a:rPr>
              <a:t>Weekly Activity)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297680" y="1005840"/>
            <a:ext cx="1828800" cy="3474720"/>
          </a:xfrm>
          <a:prstGeom prst="rect">
            <a:avLst/>
          </a:prstGeom>
          <a:solidFill>
            <a:srgbClr val="0B1320"/>
          </a:solidFill>
          <a:ln w="25400"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0" y="1005840"/>
            <a:ext cx="18288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D4BF"/>
                </a:solidFill>
              </a:rPr>
              <a:t>Patient Invite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DD4BF"/>
                </a:solidFill>
              </a:rPr>
              <a:t>Modal Code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0" y="13716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Oversight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0" y="201168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Remote Session Tracking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Patient Compliance Analytics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Generate Invite Codes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Real-Time Progress Charts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AI Integration: Gemini Virtual Assistant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572000" cy="3474720"/>
          </a:xfrm>
          <a:prstGeom prst="rect">
            <a:avLst/>
          </a:prstGeom>
          <a:solidFill>
            <a:srgbClr val="0B1320"/>
          </a:solidFill>
          <a:ln w="25400"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45720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D4BF"/>
                </a:solidFill>
              </a:rPr>
              <a:t>AI Chat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DD4BF"/>
                </a:solidFill>
              </a:rPr>
              <a:t>Screenshot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303520" y="13716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Capabilities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03520" y="192024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Recommends electrode placement based on pain type.</a:t>
            </a:r>
            <a:endParaRPr lang="en-US" sz="18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Provides therapy guidance 24/7.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303520" y="29260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Benefits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303520" y="347472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Reduces patient misinformation.</a:t>
            </a:r>
            <a:endParaRPr lang="en-US" sz="18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Improves therapy adherence.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Innovation &amp; Key Features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560320" cy="3200400"/>
          </a:xfrm>
          <a:prstGeom prst="roundRect">
            <a:avLst>
              <a:gd name="adj" fmla="val 3571"/>
            </a:avLst>
          </a:prstGeom>
          <a:solidFill>
            <a:srgbClr val="1E293B"/>
          </a:solidFill>
          <a:ln w="25400">
            <a:solidFill>
              <a:srgbClr val="FB92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Dual-mode capability</a:t>
            </a:r>
            <a:endParaRPr lang="en-US" sz="1600" dirty="0"/>
          </a:p>
          <a:p>
            <a:pPr indent="0" marL="0">
              <a:lnSpc>
                <a:spcPts val="1500"/>
              </a:lnSpc>
              <a:buNone/>
            </a:pPr>
            <a:endParaRPr lang="en-US" sz="16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Arduino-based</a:t>
            </a:r>
            <a:endParaRPr lang="en-US" sz="1600" dirty="0"/>
          </a:p>
          <a:p>
            <a:pPr indent="0" marL="0">
              <a:lnSpc>
                <a:spcPts val="1500"/>
              </a:lnSpc>
              <a:buNone/>
            </a:pPr>
            <a:endParaRPr lang="en-US" sz="16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Open-source design</a:t>
            </a:r>
            <a:endParaRPr lang="en-US" sz="1600" dirty="0"/>
          </a:p>
          <a:p>
            <a:pPr indent="0" marL="0">
              <a:lnSpc>
                <a:spcPts val="1500"/>
              </a:lnSpc>
              <a:buNone/>
            </a:pPr>
            <a:endParaRPr lang="en-US" sz="16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20–30% cheaper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91840" y="1188720"/>
            <a:ext cx="2560320" cy="3200400"/>
          </a:xfrm>
          <a:prstGeom prst="roundRect">
            <a:avLst>
              <a:gd name="adj" fmla="val 3571"/>
            </a:avLst>
          </a:prstGeom>
          <a:solidFill>
            <a:srgbClr val="1E293B"/>
          </a:solidFill>
          <a:ln w="25400">
            <a:solidFill>
              <a:srgbClr val="2DD4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0" y="1371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474720" y="201168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Progressive Web App</a:t>
            </a:r>
            <a:endParaRPr lang="en-US" sz="1600" dirty="0"/>
          </a:p>
          <a:p>
            <a:pPr indent="0" marL="0">
              <a:lnSpc>
                <a:spcPts val="1500"/>
              </a:lnSpc>
              <a:buNone/>
            </a:pPr>
            <a:endParaRPr lang="en-US" sz="16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Offline-first (no internet)</a:t>
            </a:r>
            <a:endParaRPr lang="en-US" sz="1600" dirty="0"/>
          </a:p>
          <a:p>
            <a:pPr indent="0" marL="0">
              <a:lnSpc>
                <a:spcPts val="1500"/>
              </a:lnSpc>
              <a:buNone/>
            </a:pPr>
            <a:endParaRPr lang="en-US" sz="16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Local data storage</a:t>
            </a:r>
            <a:endParaRPr lang="en-US" sz="1600" dirty="0"/>
          </a:p>
          <a:p>
            <a:pPr indent="0" marL="0">
              <a:lnSpc>
                <a:spcPts val="1500"/>
              </a:lnSpc>
              <a:buNone/>
            </a:pPr>
            <a:endParaRPr lang="en-US" sz="16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Privacy-focused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126480" y="1188720"/>
            <a:ext cx="2560320" cy="3200400"/>
          </a:xfrm>
          <a:prstGeom prst="roundRect">
            <a:avLst>
              <a:gd name="adj" fmla="val 3571"/>
            </a:avLst>
          </a:prstGeom>
          <a:solidFill>
            <a:srgbClr val="1E293B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0" y="1371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309360" y="201168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Manual data entry (current)</a:t>
            </a:r>
            <a:endParaRPr lang="en-US" sz="1600" dirty="0"/>
          </a:p>
          <a:p>
            <a:pPr indent="0" marL="0">
              <a:lnSpc>
                <a:spcPts val="1500"/>
              </a:lnSpc>
              <a:buNone/>
            </a:pPr>
            <a:endParaRPr lang="en-US" sz="16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Session tracking</a:t>
            </a:r>
            <a:endParaRPr lang="en-US" sz="1600" dirty="0"/>
          </a:p>
          <a:p>
            <a:pPr indent="0" marL="0">
              <a:lnSpc>
                <a:spcPts val="1500"/>
              </a:lnSpc>
              <a:buNone/>
            </a:pPr>
            <a:endParaRPr lang="en-US" sz="16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Progress analytics</a:t>
            </a:r>
            <a:endParaRPr lang="en-US" sz="1600" dirty="0"/>
          </a:p>
          <a:p>
            <a:pPr indent="0" marL="0">
              <a:lnSpc>
                <a:spcPts val="1500"/>
              </a:lnSpc>
              <a:buNone/>
            </a:pPr>
            <a:endParaRPr lang="en-US" sz="16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Future: Bluetooth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Impact, Accessibility &amp; SDGs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3200400"/>
          </a:xfrm>
          <a:prstGeom prst="roundRect">
            <a:avLst>
              <a:gd name="adj" fmla="val 2857"/>
            </a:avLst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Nigeria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33832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Works Offline via Service Workers</a:t>
            </a:r>
            <a:endParaRPr lang="en-US" sz="18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Runs on low-end Android phones</a:t>
            </a:r>
            <a:endParaRPr lang="en-US" sz="18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Reduces transportation costs</a:t>
            </a:r>
            <a:endParaRPr lang="en-US" sz="18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Targets Vulnerable Demographics (Women, Elderly, Children)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754880" y="1188720"/>
            <a:ext cx="3931920" cy="3200400"/>
          </a:xfrm>
          <a:prstGeom prst="roundRect">
            <a:avLst>
              <a:gd name="adj" fmla="val 2857"/>
            </a:avLst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0" y="1371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Addressing SDGs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200" y="1920240"/>
            <a:ext cx="33832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SDG 3: Good Health &amp; Well-being</a:t>
            </a:r>
            <a:endParaRPr lang="en-US" sz="1800" dirty="0"/>
          </a:p>
          <a:p>
            <a:pPr indent="0" marL="0">
              <a:lnSpc>
                <a:spcPts val="1500"/>
              </a:lnSpc>
              <a:buNone/>
            </a:pPr>
            <a:endParaRPr lang="en-US" sz="18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SDG 9: Industry &amp; Innovation</a:t>
            </a:r>
            <a:endParaRPr lang="en-US" sz="1800" dirty="0"/>
          </a:p>
          <a:p>
            <a:pPr indent="0" marL="0">
              <a:lnSpc>
                <a:spcPts val="1500"/>
              </a:lnSpc>
              <a:buNone/>
            </a:pPr>
            <a:endParaRPr lang="en-US" sz="18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SDG 10: Reduced Inequalities</a:t>
            </a:r>
            <a:endParaRPr lang="en-US" sz="1800" dirty="0"/>
          </a:p>
          <a:p>
            <a:pPr indent="0" marL="0">
              <a:lnSpc>
                <a:spcPts val="1500"/>
              </a:lnSpc>
              <a:buNone/>
            </a:pPr>
            <a:endParaRPr lang="en-US" sz="18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SDG 17: Partnerships for the Goals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Listening!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TensPilot+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Questions?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2026-06-08T11:23:15Z</dcterms:created>
  <dcterms:modified xsi:type="dcterms:W3CDTF">2026-06-08T11:23:15Z</dcterms:modified>
</cp:coreProperties>
</file>