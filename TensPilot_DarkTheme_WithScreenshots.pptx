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MASTER">
    <p:bg>
      <p:bgPr>
        <a:solidFill>
          <a:srgbClr val="0B13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846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TensPilot+ Smart Telemetry Ecosystem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046720" y="4846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CODET Project Presentation</a:t>
            </a:r>
            <a:endParaRPr lang="en-US" sz="1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TensPilot+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457200" y="2286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Telemetry-Enabled TENS System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2834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Improving Access to Safe, Intelligent, and Remote Electrotherapy for Nigerians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Problem &amp; Motivation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931920" cy="3200400"/>
          </a:xfrm>
          <a:prstGeom prst="roundRect">
            <a:avLst>
              <a:gd name="adj" fmla="val 2857"/>
            </a:avLst>
          </a:prstGeom>
          <a:solidFill>
            <a:srgbClr val="1E293B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011680"/>
            <a:ext cx="33832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Standard TENS machines are "dumb" hardware.</a:t>
            </a:r>
            <a:endParaRPr lang="en-US" sz="16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tracking of pulse width, frequency, or intensity.</a:t>
            </a:r>
            <a:endParaRPr lang="en-US" sz="16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Reliance on unreliable paper diaries.</a:t>
            </a:r>
            <a:endParaRPr lang="en-US" sz="16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Doctors have zero visibility into home therapy.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754880" y="1188720"/>
            <a:ext cx="3931920" cy="3200400"/>
          </a:xfrm>
          <a:prstGeom prst="roundRect">
            <a:avLst>
              <a:gd name="adj" fmla="val 2857"/>
            </a:avLst>
          </a:prstGeom>
          <a:solidFill>
            <a:srgbClr val="1E293B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0" y="137160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029200" y="2011680"/>
            <a:ext cx="33832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low-cost, locally developed TENS device integrated with intelligent monitoring software to bridge the gap between home and hospital. Transforming qualitative guessing into quantitative data.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Hardware Design: The Core Device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114800" cy="3291840"/>
          </a:xfrm>
          <a:prstGeom prst="roundRect">
            <a:avLst>
              <a:gd name="adj" fmla="val 2778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188720"/>
            <a:ext cx="411480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[ Insert Circuit / Prototype Image Here ]</a:t>
            </a:r>
            <a:endParaRPr lang="en-US" sz="1400" dirty="0"/>
          </a:p>
          <a:p>
            <a:pPr algn="ctr" indent="0" marL="0">
              <a:buNone/>
            </a:pP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Show physical components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754880" y="118872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Components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754880" y="1645920"/>
            <a:ext cx="3931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Microcontroller Unit (Arduino Uno)</a:t>
            </a:r>
            <a:endParaRPr lang="en-US" sz="16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Battery Supply (5V Power Bank)</a:t>
            </a:r>
            <a:endParaRPr lang="en-US" sz="16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L298N H-Bridge Driver</a:t>
            </a:r>
            <a:endParaRPr lang="en-US" sz="16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Pulse Generation Circuit</a:t>
            </a:r>
            <a:endParaRPr lang="en-US" sz="16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Hardware Safety Features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754880" y="320040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754880" y="3657600"/>
            <a:ext cx="3931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controlled electrical pulses that stimulate nerves and reduce pain without medication.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Hardware Demonstration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572000" cy="3291840"/>
          </a:xfrm>
          <a:prstGeom prst="roundRect">
            <a:avLst>
              <a:gd name="adj" fmla="val 2778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188720"/>
            <a:ext cx="457200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[ Insert Patient Testing Photo ]</a:t>
            </a:r>
            <a:endParaRPr lang="en-US" sz="1400" dirty="0"/>
          </a:p>
          <a:p>
            <a:pPr algn="ctr" indent="0" marL="0">
              <a:buNone/>
            </a:pP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Show device in action on a patient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303520" y="137160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Capabilities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303520" y="2011680"/>
            <a:ext cx="33832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Frequency (Hz) Control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Pulse Width (µs) Control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Intensity (mA) Control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Portable Operation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Ecosystem: Patient Application</a:t>
            </a:r>
            <a:endParaRPr lang="en-US" sz="3200" dirty="0"/>
          </a:p>
        </p:txBody>
      </p:sp>
      <p:pic>
        <p:nvPicPr>
          <p:cNvPr id="3" name="Image 0" descr="C:/Users/user/.gemini/antigravity/brain/654d5fca-da82-411d-9603-635f30f85081/media__1780910364365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005840"/>
            <a:ext cx="1828800" cy="3474720"/>
          </a:xfrm>
          <a:prstGeom prst="rect">
            <a:avLst/>
          </a:prstGeom>
        </p:spPr>
      </p:pic>
      <p:pic>
        <p:nvPicPr>
          <p:cNvPr id="4" name="Image 1" descr="C:/Users/user/.gemini/antigravity/brain/654d5fca-da82-411d-9603-635f30f85081/media__1780910364340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2377440" y="1005840"/>
            <a:ext cx="1828800" cy="3474720"/>
          </a:xfrm>
          <a:prstGeom prst="rect">
            <a:avLst/>
          </a:prstGeom>
        </p:spPr>
      </p:pic>
      <p:pic>
        <p:nvPicPr>
          <p:cNvPr id="5" name="Image 2" descr="C:/Users/user/.gemini/antigravity/brain/654d5fca-da82-411d-9603-635f30f85081/media__1780910364350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297680" y="1005840"/>
            <a:ext cx="1828800" cy="3474720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6400800" y="13716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Features</a:t>
            </a:r>
            <a:endParaRPr lang="en-US" sz="2000" dirty="0"/>
          </a:p>
        </p:txBody>
      </p:sp>
      <p:sp>
        <p:nvSpPr>
          <p:cNvPr id="7" name="Text 2"/>
          <p:cNvSpPr/>
          <p:nvPr/>
        </p:nvSpPr>
        <p:spPr>
          <a:xfrm>
            <a:off x="6400800" y="2011680"/>
            <a:ext cx="22860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Intuitive Setup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Live Logging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Pain Tracking Algorithm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Therapy Suggestions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Offline Access (PWA)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Ecosystem: Cloud Sync &amp; Monitoring</a:t>
            </a:r>
            <a:endParaRPr lang="en-US" sz="3200" dirty="0"/>
          </a:p>
        </p:txBody>
      </p:sp>
      <p:pic>
        <p:nvPicPr>
          <p:cNvPr id="3" name="Image 0" descr="C:/Users/user/.gemini/antigravity/brain/654d5fca-da82-411d-9603-635f30f85081/media__1780910364858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005840"/>
            <a:ext cx="5029200" cy="34747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60720" y="13716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Tools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5760720" y="2011680"/>
            <a:ext cx="27432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Secure Cloud Synchronization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Direct Link to Doctor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Track Global Compliance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Monitor Effectiveness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Adjust Therapy Plans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AI Integration: Gemini Virtual Assistant</a:t>
            </a:r>
            <a:endParaRPr lang="en-US" sz="3200" dirty="0"/>
          </a:p>
        </p:txBody>
      </p:sp>
      <p:pic>
        <p:nvPicPr>
          <p:cNvPr id="3" name="Image 0" descr="C:/Users/user/.gemini/antigravity/brain/654d5fca-da82-411d-9603-635f30f85081/media__1780910364353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005840"/>
            <a:ext cx="4572000" cy="34747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303520" y="137160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Gemini-Powered Capabilities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5303520" y="1920240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Recommends electrode placement based on pain type.</a:t>
            </a:r>
            <a:endParaRPr lang="en-US" sz="16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Provides therapy guidance 24/7.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303520" y="292608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Benefits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5303520" y="3474720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Reduces patient misinformation.</a:t>
            </a:r>
            <a:endParaRPr lang="en-US" sz="16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Improves therapy adherence and confidence.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Innovative Edge &amp; Market Comparison</a:t>
            </a:r>
            <a:endParaRPr lang="en-US" sz="3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27432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B1320"/>
                          </a:solidFill>
                        </a:rPr>
                        <a:t>Feature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B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8FAFC"/>
                          </a:solidFill>
                        </a:rPr>
                        <a:t>Imported Smart TENS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B1320"/>
                          </a:solidFill>
                        </a:rPr>
                        <a:t>TensPilot+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B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F8FAFC"/>
                          </a:solidFill>
                        </a:rPr>
                        <a:t>Cost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FB923C"/>
                          </a:solidFill>
                        </a:rPr>
                        <a:t>Highly Expensive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3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2DD4BF"/>
                          </a:solidFill>
                        </a:rPr>
                        <a:t>Low Cost &amp; Accessible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32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F8FAFC"/>
                          </a:solidFill>
                        </a:rPr>
                        <a:t>Monitoring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94A3B8"/>
                          </a:solidFill>
                        </a:rPr>
                        <a:t>Limited / Bluetooth Only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2DD4BF"/>
                          </a:solidFill>
                        </a:rPr>
                        <a:t>Global Cloud Telemetry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F8FAFC"/>
                          </a:solidFill>
                        </a:rPr>
                        <a:t>AI Guidance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FB923C"/>
                          </a:solidFill>
                        </a:rPr>
                        <a:t>None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3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2DD4BF"/>
                          </a:solidFill>
                        </a:rPr>
                        <a:t>Gemini Integrated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32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F8FAFC"/>
                          </a:solidFill>
                        </a:rPr>
                        <a:t>Nigeria-Focused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FB923C"/>
                          </a:solidFill>
                        </a:rPr>
                        <a:t>No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2DD4BF"/>
                          </a:solidFill>
                        </a:rPr>
                        <a:t>Yes (Offline/PWA)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Addressing Sustainable Development Goals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 3: Good Health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3931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pain management &amp; better quality of life.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754880" y="118872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 9: Industry &amp; Innovation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754880" y="1645920"/>
            <a:ext cx="3931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AI-enabled healthcare innovation through local hardware.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301752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 10: Reduced Inequalities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3474720"/>
            <a:ext cx="3931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Affordable care for underserved populations &amp; rural areas.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754880" y="301752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 17: Partnerships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754880" y="3474720"/>
            <a:ext cx="3931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Connects patients and clinicians digitally across regions.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Impact &amp; Accessibility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931920" cy="3200400"/>
          </a:xfrm>
          <a:prstGeom prst="roundRect">
            <a:avLst>
              <a:gd name="adj" fmla="val 2857"/>
            </a:avLst>
          </a:prstGeom>
          <a:solidFill>
            <a:srgbClr val="1E293B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for Nigeria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011680"/>
            <a:ext cx="33832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8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Works Offline via Service Workers</a:t>
            </a:r>
            <a:endParaRPr lang="en-US" sz="18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8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Runs on low-end Android phones</a:t>
            </a:r>
            <a:endParaRPr lang="en-US" sz="18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8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Reduces transportation costs</a:t>
            </a:r>
            <a:endParaRPr lang="en-US" sz="18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8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Suitable for rural healthcare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754880" y="1188720"/>
            <a:ext cx="3931920" cy="3200400"/>
          </a:xfrm>
          <a:prstGeom prst="roundRect">
            <a:avLst>
              <a:gd name="adj" fmla="val 2857"/>
            </a:avLst>
          </a:prstGeom>
          <a:solidFill>
            <a:srgbClr val="1E293B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0" y="13716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Vulnerable Demographics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029200" y="2011680"/>
            <a:ext cx="33832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8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Women: Chronic pelvic &amp; menstrual pain.</a:t>
            </a:r>
            <a:endParaRPr lang="en-US" sz="18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8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Children: Non-drug, safe pain relief.</a:t>
            </a:r>
            <a:endParaRPr lang="en-US" sz="18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8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Elderly: Arthritis care with reduced clinic visits.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Future Expansion Roadmap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7772400" cy="54864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1: Standalone TENS hardware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2011680"/>
            <a:ext cx="7772400" cy="548640"/>
          </a:xfrm>
          <a:prstGeom prst="roundRect">
            <a:avLst>
              <a:gd name="adj" fmla="val 16667"/>
            </a:avLst>
          </a:prstGeom>
          <a:solidFill>
            <a:srgbClr val="2DD4BF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201168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2: Telemetry software (Current Phase)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2651760"/>
            <a:ext cx="7772400" cy="54864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65176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3: Bluetooth-enabled hardware integration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57200" y="3291840"/>
            <a:ext cx="7772400" cy="54864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329184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4: Official Hospital deployment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57200" y="3931920"/>
            <a:ext cx="7772400" cy="54864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39319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5: National pain-management platform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TensPilot+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457200" y="2011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practical, affordable, and intelligent electrotherapy ecosystem that: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Relieves pain    • Supports clinicians    • Empowers patients    • Reduces healthcare burden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i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"From Pain Relief to Intelligent Pain Management."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2026-06-08T09:52:15Z</dcterms:created>
  <dcterms:modified xsi:type="dcterms:W3CDTF">2026-06-08T09:52:15Z</dcterms:modified>
</cp:coreProperties>
</file>